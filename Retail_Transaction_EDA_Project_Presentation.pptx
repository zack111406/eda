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Revenue by Product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Product Category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 &amp; Kitchen</c:v>
                </c:pt>
                <c:pt idx="1">
                  <c:v>Health</c:v>
                </c:pt>
                <c:pt idx="2">
                  <c:v>Electronics</c:v>
                </c:pt>
                <c:pt idx="3">
                  <c:v>Grocery</c:v>
                </c:pt>
                <c:pt idx="4">
                  <c:v>Fashion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1092431407.82</c:v>
                </c:pt>
                <c:pt idx="1">
                  <c:v>1073630252.48</c:v>
                </c:pt>
                <c:pt idx="2">
                  <c:v>1066328622.67</c:v>
                </c:pt>
                <c:pt idx="3">
                  <c:v>1063577206.46</c:v>
                </c:pt>
                <c:pt idx="4">
                  <c:v>1063268353.36</c:v>
                </c:pt>
                <c:pt idx="5">
                  <c:v>1057336495.45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M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 Rate by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 &amp; Kitchen</c:v>
                </c:pt>
                <c:pt idx="1">
                  <c:v>Health</c:v>
                </c:pt>
                <c:pt idx="2">
                  <c:v>Electronics</c:v>
                </c:pt>
                <c:pt idx="3">
                  <c:v>Grocery</c:v>
                </c:pt>
                <c:pt idx="4">
                  <c:v>Fashion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14.89</c:v>
                </c:pt>
                <c:pt idx="1">
                  <c:v>14.83</c:v>
                </c:pt>
                <c:pt idx="2">
                  <c:v>14.47</c:v>
                </c:pt>
                <c:pt idx="3">
                  <c:v>14.87</c:v>
                </c:pt>
                <c:pt idx="4">
                  <c:v>15.05</c:v>
                </c:pt>
                <c:pt idx="5">
                  <c:v>14.76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Average Final Price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Final Price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Premium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64303.15</c:v>
                </c:pt>
                <c:pt idx="1">
                  <c:v>64430.45</c:v>
                </c:pt>
                <c:pt idx="2">
                  <c:v>63766.75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Transaction Count by Segment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Premium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33361</c:v>
                </c:pt>
                <c:pt idx="1">
                  <c:v>33151</c:v>
                </c:pt>
                <c:pt idx="2">
                  <c:v>33488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Exploratory Data Analysis of</a:t>
            </a:r>
            <a:br/>
            <a:r>
              <a:t>Large-Scale Retail Transaction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AE6F4"/>
                </a:solidFill>
              </a:defRPr>
            </a:pPr>
            <a:r>
              <a:t>Python-based EDA • Data Quality • Statistical Analysis •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What the project analyzes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D2B3A"/>
                </a:solidFill>
              </a:defRPr>
            </a:pPr>
            <a:r>
              <a:t>Objective: perform a structured exploratory analysis of a large retail transaction dataset.</a:t>
            </a:r>
          </a:p>
          <a:p>
            <a:pPr>
              <a:spcAft>
                <a:spcPts val="1200"/>
              </a:spcAft>
              <a:defRPr sz="1900">
                <a:solidFill>
                  <a:srgbClr val="1D2B3A"/>
                </a:solidFill>
              </a:defRPr>
            </a:pPr>
            <a:r>
              <a:t>Scope: customer demographics, order dates, product information, pricing, shipping, payment and return status.</a:t>
            </a:r>
          </a:p>
          <a:p>
            <a:pPr>
              <a:spcAft>
                <a:spcPts val="1200"/>
              </a:spcAft>
              <a:defRPr sz="1900">
                <a:solidFill>
                  <a:srgbClr val="1D2B3A"/>
                </a:solidFill>
              </a:defRPr>
            </a:pPr>
            <a:r>
              <a:t>EDA coverage: univariate, bivariate, multivariate analysis, outlier screening, correlations, skewness/kurtosis and business interpretation.</a:t>
            </a:r>
          </a:p>
          <a:p>
            <a:pPr>
              <a:spcAft>
                <a:spcPts val="1200"/>
              </a:spcAft>
              <a:defRPr sz="1900">
                <a:solidFill>
                  <a:srgbClr val="1D2B3A"/>
                </a:solidFill>
              </a:defRPr>
            </a:pPr>
            <a:r>
              <a:t>Primary output: cleaned data, reusable notebook analysis, numerical summaries, category/customer/shipping summaries and dashboard-ready charts.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Core metrics computed from the supplied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143000"/>
          </a:xfrm>
          <a:prstGeom prst="rect">
            <a:avLst/>
          </a:prstGeom>
          <a:solidFill>
            <a:srgbClr val="26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64008" cy="1143000"/>
          </a:xfrm>
          <a:prstGeom prst="rect">
            <a:avLst/>
          </a:prstGeom>
          <a:solidFill>
            <a:srgbClr val="D3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Total final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6.42B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743200"/>
            <a:ext cx="64008" cy="11430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Average final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64,165.72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43200"/>
            <a:ext cx="64008" cy="1143000"/>
          </a:xfrm>
          <a:prstGeom prst="rect">
            <a:avLst/>
          </a:prstGeom>
          <a:solidFill>
            <a:srgbClr val="B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9077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Return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2461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14.81%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Dataset contains 100,000 records and 18 variables.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Final-price value totals 6,416,572,338.24 across the dataset.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The report states 0 missing values after date conversion and 0 duplicate rows.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No records were removed solely because they were statistical outliers.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End-to-End EDA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The analysis implemented in the Jupyter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Read CSV into pandas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7128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6856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Dates, text cleanup,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1336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1064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Distributions &amp; category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5544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6983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IQR + Z-score outliers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9752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Relate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Correlation &amp; bivariate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Combine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Multivariate groupings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88168" y="1828800"/>
            <a:ext cx="1417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97896" y="1993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5B0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423160"/>
            <a:ext cx="12618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2971800"/>
            <a:ext cx="1234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D2B3A"/>
                </a:solidFill>
              </a:defRPr>
            </a:pPr>
            <a:r>
              <a:t>Summaries &amp; cleaned dataset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Data Preparation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Cleaning choices were implemented explicitly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Converted order_date to datetime with invalid values coerced to missing.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Trimmed whitespace from all object/text fields.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Standardized selected categorical labels to title case: gender, customer segment, payment method, shipping type, return status, product category and subcategory.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Checked duplicate rows and missing values; the supplied report records 0 duplicates and 0 missing values after preparation.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Saved the cleaned dataset as retail_cleaned.csv for reproducibility.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Univariate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Understanding the distribution of individual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Computed descriptive statistics for numeric variables: mean, median, standard deviation, minimum, maximum, skewness and kurtosis.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Generated histograms for product_price, quantity, discount_percentage, final_price, delivery_days and age.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Reviewed frequency distributions for product category, customer segment, payment method and return status.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Skewness and kurtosis were treated as evidence about distribution shape—not as automatic proof of bad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6304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463040"/>
            <a:ext cx="64008" cy="118872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276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Final-price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64,165.72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6304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98280" y="1463040"/>
            <a:ext cx="64008" cy="1188720"/>
          </a:xfrm>
          <a:prstGeom prst="rect">
            <a:avLst/>
          </a:prstGeom>
          <a:solidFill>
            <a:srgbClr val="B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2763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Return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6596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14.81%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9718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64008" cy="1188720"/>
          </a:xfrm>
          <a:prstGeom prst="rect">
            <a:avLst/>
          </a:prstGeom>
          <a:solidFill>
            <a:srgbClr val="26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136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7472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100,000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9718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971800"/>
            <a:ext cx="64008" cy="1188720"/>
          </a:xfrm>
          <a:prstGeom prst="rect">
            <a:avLst/>
          </a:prstGeom>
          <a:solidFill>
            <a:srgbClr val="D38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1363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Outlier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Two statistical screening methods were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IQR method: calculated Q1 and Q3, then screened values outside Q1 − 1.5×IQR and Q3 + 1.5×IQR.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Z-score method: screened absolute standardized values greater than 3.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The notebook stores counts and IQR fences for each numeric variable in outlier_summary.csv.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Important project choice: flagged observations were not automatically deleted; high-value transactions must be validated against business rules before removal.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Bivariate Analysis &amp;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Relationships among numeric variables and category-level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Calculated a Pearson correlation matrix across numeric variables and visualized it as a heatmap.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Compared product categories using transaction count, total final price, average final price and return rate.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Compared customer segments by average final price.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Compared shipping types using delivery-day mean, median and transaction count.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Correlation was used as a measure of linear association—not as evidence of causation.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50876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50876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15087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150876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50876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49840" y="15087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01168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201168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01168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46920" y="2011680"/>
            <a:ext cx="457200" cy="457200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49840" y="201168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251460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251460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51460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20" y="2514600"/>
            <a:ext cx="457200" cy="457200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9840" y="251460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301752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01752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301752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301752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301752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301752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352044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520440"/>
            <a:ext cx="457200" cy="457200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3520440"/>
            <a:ext cx="457200" cy="457200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352044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6920" y="352044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352044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35240" y="40233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1080" y="40233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4023360"/>
            <a:ext cx="457200" cy="457200"/>
          </a:xfrm>
          <a:prstGeom prst="rect">
            <a:avLst/>
          </a:prstGeom>
          <a:solidFill>
            <a:srgbClr val="9F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46920" y="4023360"/>
            <a:ext cx="457200" cy="457200"/>
          </a:xfrm>
          <a:prstGeom prst="rect">
            <a:avLst/>
          </a:prstGeom>
          <a:solidFill>
            <a:srgbClr val="D8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49840" y="4023360"/>
            <a:ext cx="457200" cy="457200"/>
          </a:xfrm>
          <a:prstGeom prst="rect">
            <a:avLst/>
          </a:prstGeom>
          <a:solidFill>
            <a:srgbClr val="36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Category-Level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Revenue and return-rate profile across six product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6492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0" y="1417320"/>
          <a:ext cx="434340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50749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Highest revenue: Home &amp; Kitchen (≈1.092B).</a:t>
            </a:r>
          </a:p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Highest category return rate: Fashion (15.05%).</a:t>
            </a:r>
          </a:p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Lowest category return rate: Electronics (14.47%).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Customer Segment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Average spend and transaction mix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55080" y="1234440"/>
          <a:ext cx="52120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Premium has the highest average final price: 64,430.45.</a:t>
            </a:r>
          </a:p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Regular: 64,303.15 average; New: 63,766.75 average.</a:t>
            </a:r>
          </a:p>
          <a:p>
            <a:pPr>
              <a:spcAft>
                <a:spcPts val="1200"/>
              </a:spcAft>
              <a:defRPr sz="1100">
                <a:solidFill>
                  <a:srgbClr val="1D2B3A"/>
                </a:solidFill>
              </a:defRPr>
            </a:pPr>
            <a:r>
              <a:t>Segment totals are also close, with each segment contributing roughly one-third of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Shipping &amp; Delivery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Operational view of delivery duration and return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The notebook groups delivery_days by shipping_type and calculates mean, median and count.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It also crosses shipping type with return status to explore operational patterns.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The dashboard includes a delivery-days-by-shipping-type boxplot.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This analysis is designed to identify differences in delivery duration while keeping return behavior visible as a second dimension.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82880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59" y="214884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Shipping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3448" y="27889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D2B3A"/>
                </a:solidFill>
              </a:defRPr>
            </a:pPr>
            <a:r>
              <a:t>Group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6488" y="182880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214884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Delivery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5" y="27889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D2B3A"/>
                </a:solidFill>
              </a:defRPr>
            </a:pPr>
            <a:r>
              <a:t>Mean + median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9256" y="1828800"/>
            <a:ext cx="1371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0696" y="214884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Return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8984" y="27889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D2B3A"/>
                </a:solidFill>
              </a:defRPr>
            </a:pPr>
            <a:r>
              <a:t>Compare Yes/No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Multivariate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Combining business dimensions to reveal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Product category × discount band × final price: grouped transactions into discount ranges 0–10%, 10–20% and 20–30%.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Customer segment × age group × spending: created age bands Under 30, 30–45, 46–60 and Over 60, then summarized count, mean and total final price.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Shipping type × return status × delivery days: compared operational duration across return outcomes.</a:t>
            </a:r>
          </a:p>
          <a:p>
            <a:pPr>
              <a:spcAft>
                <a:spcPts val="1200"/>
              </a:spcAft>
              <a:defRPr sz="1700">
                <a:solidFill>
                  <a:srgbClr val="1D2B3A"/>
                </a:solidFill>
              </a:defRPr>
            </a:pPr>
            <a:r>
              <a:t>These groupings move beyond one-variable summaries and support business interpretation of interacting factors.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Dashboard &amp;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Analysis was packaged into reusable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2B6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Dashboard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143000"/>
          </a:xfrm>
          <a:prstGeom prst="rect">
            <a:avLst/>
          </a:prstGeom>
          <a:solidFill>
            <a:srgbClr val="26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Dashboard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1143000"/>
          </a:xfrm>
          <a:prstGeom prst="rect">
            <a:avLst/>
          </a:prstGeom>
          <a:solidFill>
            <a:srgbClr val="B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Dashboard return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365D"/>
                </a:solidFill>
              </a:defRPr>
            </a:pPr>
            <a:r>
              <a:t>14.81%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Interactive-style HTML dashboard summarizes headline KPIs, distributions, category revenue, correlation heatmap, customer segment spending and shipping delivery patterns.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Notebook exports: retail_cleaned.csv, numerical_summary.csv, outlier_summary.csv and category_summary.csv.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The report emphasizes computed results from the uploaded data rather than treating illustrative reference findings as measured facts.</a:t>
            </a:r>
          </a:p>
          <a:p>
            <a:pPr>
              <a:spcAft>
                <a:spcPts val="1200"/>
              </a:spcAft>
              <a:defRPr sz="1600">
                <a:solidFill>
                  <a:srgbClr val="1D2B3A"/>
                </a:solidFill>
              </a:defRPr>
            </a:pPr>
            <a:r>
              <a:t>Project is reproducible by running the notebook in the same folder as the original CSV.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What the completed EDA establishes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Retail dataset is large enough for meaningful exploratory segmentation: 100,000 transactions across 18 variables.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Data preparation was systematic, with date parsing, text normalization and quality checks before analysis.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Revenue is distributed fairly closely across categories; Home &amp; Kitchen has the largest computed category revenue.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Return rates are also close across categories, ranging from 14.47% to 15.05% in the supplied results.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Customer-segment average spending is tightly grouped; Premium has the highest average final price in the computed summary.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Outlier screening was deliberately separated from outlier removal, preserving potentially valid high-value transactions.</a:t>
            </a:r>
          </a:p>
          <a:p>
            <a:pPr>
              <a:spcAft>
                <a:spcPts val="1200"/>
              </a:spcAft>
              <a:defRPr sz="1500">
                <a:solidFill>
                  <a:srgbClr val="1D2B3A"/>
                </a:solidFill>
              </a:defRPr>
            </a:pPr>
            <a:r>
              <a:t>Overall, the project converts raw transaction data into reproducible statistical summaries and business-facing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7D"/>
                </a:solidFill>
              </a:defRPr>
            </a:pPr>
            <a:r>
              <a:t>Retail Transaction EDA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AE6F4"/>
                </a:solidFill>
              </a:defRPr>
            </a:pPr>
            <a:r>
              <a:t>Retail Transaction EDA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Python • Pandas • NumPy • Matplotlib • Seaborn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